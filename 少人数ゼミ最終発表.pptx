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Economica"/>
      <p:regular r:id="rId16"/>
      <p:bold r:id="rId17"/>
      <p:italic r:id="rId18"/>
      <p:boldItalic r:id="rId19"/>
    </p:embeddedFont>
    <p:embeddedFont>
      <p:font typeface="Open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regular.fntdata"/><Relationship Id="rId11" Type="http://schemas.openxmlformats.org/officeDocument/2006/relationships/slide" Target="slides/slide6.xml"/><Relationship Id="rId22" Type="http://schemas.openxmlformats.org/officeDocument/2006/relationships/font" Target="fonts/OpenSans-italic.fntdata"/><Relationship Id="rId10" Type="http://schemas.openxmlformats.org/officeDocument/2006/relationships/slide" Target="slides/slide5.xml"/><Relationship Id="rId21" Type="http://schemas.openxmlformats.org/officeDocument/2006/relationships/font" Target="fonts/OpenSans-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Economica-bold.fntdata"/><Relationship Id="rId16" Type="http://schemas.openxmlformats.org/officeDocument/2006/relationships/font" Target="fonts/Economica-regular.fntdata"/><Relationship Id="rId5" Type="http://schemas.openxmlformats.org/officeDocument/2006/relationships/notesMaster" Target="notesMasters/notesMaster1.xml"/><Relationship Id="rId19" Type="http://schemas.openxmlformats.org/officeDocument/2006/relationships/font" Target="fonts/Economica-boldItalic.fntdata"/><Relationship Id="rId6" Type="http://schemas.openxmlformats.org/officeDocument/2006/relationships/slide" Target="slides/slide1.xml"/><Relationship Id="rId18" Type="http://schemas.openxmlformats.org/officeDocument/2006/relationships/font" Target="fonts/Economica-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166c204a41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166c204a41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166c204a41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166c204a41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166c204a41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166c204a41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166c204a41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166c204a41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33a9201ad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33a9201ad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33a9201ad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33a9201ad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3a9201ad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3a9201ad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33a9201ad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33a9201ad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33a9201ad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33a9201ad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drive.google.com/file/d/1ujh8iO6U36k9ATHUV13_ZEZDYf1FyF3n/view" TargetMode="Externa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drive.google.com/file/d/1ONdesszZmOCo5ZOhaKuWN0u8p64dGnGP/view" TargetMode="Externa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少人数ゼミ</a:t>
            </a:r>
            <a:endParaRPr/>
          </a:p>
        </p:txBody>
      </p:sp>
      <p:sp>
        <p:nvSpPr>
          <p:cNvPr id="63" name="Google Shape;63;p13"/>
          <p:cNvSpPr txBox="1"/>
          <p:nvPr>
            <p:ph idx="1" type="subTitle"/>
          </p:nvPr>
        </p:nvSpPr>
        <p:spPr>
          <a:xfrm>
            <a:off x="1689500" y="3116575"/>
            <a:ext cx="5839200" cy="1225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ja"/>
              <a:t>ARパズル</a:t>
            </a:r>
            <a:endParaRPr/>
          </a:p>
          <a:p>
            <a:pPr indent="0" lvl="0" marL="0" rtl="0" algn="ctr">
              <a:spcBef>
                <a:spcPts val="0"/>
              </a:spcBef>
              <a:spcAft>
                <a:spcPts val="0"/>
              </a:spcAft>
              <a:buNone/>
            </a:pPr>
            <a:r>
              <a:rPr lang="ja"/>
              <a:t>〜（なるべく）視点操作で〜</a:t>
            </a:r>
            <a:endParaRPr/>
          </a:p>
          <a:p>
            <a:pPr indent="0" lvl="0" marL="0" rtl="0" algn="ctr">
              <a:spcBef>
                <a:spcPts val="0"/>
              </a:spcBef>
              <a:spcAft>
                <a:spcPts val="0"/>
              </a:spcAft>
              <a:buNone/>
            </a:pPr>
            <a:r>
              <a:rPr lang="ja"/>
              <a:t>宮本晴生</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241825"/>
            <a:ext cx="8520600" cy="52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ja" sz="2389"/>
              <a:t>実現イメージ</a:t>
            </a:r>
            <a:endParaRPr sz="2389"/>
          </a:p>
        </p:txBody>
      </p:sp>
      <p:sp>
        <p:nvSpPr>
          <p:cNvPr id="69" name="Google Shape;69;p14"/>
          <p:cNvSpPr txBox="1"/>
          <p:nvPr>
            <p:ph idx="1" type="body"/>
          </p:nvPr>
        </p:nvSpPr>
        <p:spPr>
          <a:xfrm>
            <a:off x="311700" y="889200"/>
            <a:ext cx="8520600" cy="3690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タップで選択</a:t>
            </a:r>
            <a:endParaRPr/>
          </a:p>
          <a:p>
            <a:pPr indent="-342900" lvl="0" marL="457200" rtl="0" algn="l">
              <a:spcBef>
                <a:spcPts val="0"/>
              </a:spcBef>
              <a:spcAft>
                <a:spcPts val="0"/>
              </a:spcAft>
              <a:buSzPts val="1800"/>
              <a:buChar char="●"/>
            </a:pPr>
            <a:r>
              <a:rPr lang="ja"/>
              <a:t>視点で移動方向指示</a:t>
            </a:r>
            <a:endParaRPr/>
          </a:p>
          <a:p>
            <a:pPr indent="-342900" lvl="0" marL="457200" rtl="0" algn="l">
              <a:spcBef>
                <a:spcPts val="0"/>
              </a:spcBef>
              <a:spcAft>
                <a:spcPts val="0"/>
              </a:spcAft>
              <a:buSzPts val="1800"/>
              <a:buChar char="●"/>
            </a:pPr>
            <a:r>
              <a:rPr lang="ja"/>
              <a:t>パズル全体は動いて覗く</a:t>
            </a:r>
            <a:br>
              <a:rPr lang="ja"/>
            </a:br>
            <a:endParaRPr/>
          </a:p>
          <a:p>
            <a:pPr indent="-342900" lvl="0" marL="457200" rtl="0" algn="l">
              <a:spcBef>
                <a:spcPts val="0"/>
              </a:spcBef>
              <a:spcAft>
                <a:spcPts val="0"/>
              </a:spcAft>
              <a:buSzPts val="1800"/>
              <a:buChar char="●"/>
            </a:pPr>
            <a:r>
              <a:rPr lang="ja"/>
              <a:t>パーツは元々不透明(Opaque)</a:t>
            </a:r>
            <a:br>
              <a:rPr lang="ja"/>
            </a:br>
            <a:r>
              <a:rPr lang="ja"/>
              <a:t>↪︎注視で各色に透ける</a:t>
            </a:r>
            <a:endParaRPr/>
          </a:p>
          <a:p>
            <a:pPr indent="-342900" lvl="0" marL="457200" rtl="0" algn="l">
              <a:spcBef>
                <a:spcPts val="0"/>
              </a:spcBef>
              <a:spcAft>
                <a:spcPts val="0"/>
              </a:spcAft>
              <a:buSzPts val="1800"/>
              <a:buChar char="●"/>
            </a:pPr>
            <a:r>
              <a:rPr lang="ja"/>
              <a:t>パーツ衝突音・エフェクト</a:t>
            </a:r>
            <a:endParaRPr/>
          </a:p>
          <a:p>
            <a:pPr indent="-342900" lvl="0" marL="457200" rtl="0" algn="l">
              <a:spcBef>
                <a:spcPts val="0"/>
              </a:spcBef>
              <a:spcAft>
                <a:spcPts val="0"/>
              </a:spcAft>
              <a:buSzPts val="1800"/>
              <a:buChar char="●"/>
            </a:pPr>
            <a:r>
              <a:rPr lang="ja"/>
              <a:t>(選んだパーツに合わせて</a:t>
            </a:r>
            <a:br>
              <a:rPr lang="ja"/>
            </a:br>
            <a:r>
              <a:rPr lang="ja"/>
              <a:t>視界の端がその色に)</a:t>
            </a:r>
            <a:br>
              <a:rPr lang="ja"/>
            </a:br>
            <a:r>
              <a:rPr lang="ja"/>
              <a:t>etc…</a:t>
            </a:r>
            <a:endParaRPr/>
          </a:p>
        </p:txBody>
      </p:sp>
      <p:pic>
        <p:nvPicPr>
          <p:cNvPr id="70" name="Google Shape;70;p14"/>
          <p:cNvPicPr preferRelativeResize="0"/>
          <p:nvPr/>
        </p:nvPicPr>
        <p:blipFill>
          <a:blip r:embed="rId3">
            <a:alphaModFix/>
          </a:blip>
          <a:stretch>
            <a:fillRect/>
          </a:stretch>
        </p:blipFill>
        <p:spPr>
          <a:xfrm>
            <a:off x="3995400" y="889200"/>
            <a:ext cx="4955474" cy="36900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256650"/>
            <a:ext cx="8520600" cy="484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ja" sz="2589"/>
              <a:t>中間発表時の進捗</a:t>
            </a:r>
            <a:endParaRPr sz="2589"/>
          </a:p>
        </p:txBody>
      </p:sp>
      <p:sp>
        <p:nvSpPr>
          <p:cNvPr id="76" name="Google Shape;76;p15"/>
          <p:cNvSpPr txBox="1"/>
          <p:nvPr>
            <p:ph idx="1" type="body"/>
          </p:nvPr>
        </p:nvSpPr>
        <p:spPr>
          <a:xfrm>
            <a:off x="311700" y="829925"/>
            <a:ext cx="8520600" cy="3749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各キューブ&amp;ボックスobject</a:t>
            </a:r>
            <a:endParaRPr/>
          </a:p>
          <a:p>
            <a:pPr indent="-342900" lvl="0" marL="457200" rtl="0" algn="l">
              <a:spcBef>
                <a:spcPts val="0"/>
              </a:spcBef>
              <a:spcAft>
                <a:spcPts val="0"/>
              </a:spcAft>
              <a:buSzPts val="1800"/>
              <a:buChar char="●"/>
            </a:pPr>
            <a:r>
              <a:rPr lang="ja"/>
              <a:t>ボタンUI（変えるかも）</a:t>
            </a:r>
            <a:endParaRPr/>
          </a:p>
          <a:p>
            <a:pPr indent="-342900" lvl="0" marL="457200" rtl="0" algn="l">
              <a:spcBef>
                <a:spcPts val="0"/>
              </a:spcBef>
              <a:spcAft>
                <a:spcPts val="0"/>
              </a:spcAft>
              <a:buSzPts val="1800"/>
              <a:buChar char="●"/>
            </a:pPr>
            <a:r>
              <a:rPr lang="ja"/>
              <a:t>キューブをクリックしたら前面に</a:t>
            </a:r>
            <a:br>
              <a:rPr lang="ja"/>
            </a:br>
            <a:r>
              <a:rPr lang="ja"/>
              <a:t>ボタン表示</a:t>
            </a:r>
            <a:br>
              <a:rPr lang="ja"/>
            </a:br>
            <a:r>
              <a:rPr lang="ja"/>
              <a:t>(オブジェクトやUIが干渉するので</a:t>
            </a:r>
            <a:br>
              <a:rPr lang="ja"/>
            </a:br>
            <a:r>
              <a:rPr lang="ja"/>
              <a:t>レイヤー分け)</a:t>
            </a:r>
            <a:br>
              <a:rPr lang="ja"/>
            </a:br>
            <a:r>
              <a:rPr lang="ja"/>
              <a:t>※表示されたボタンUIと実際に押せる位置がズレ</a:t>
            </a:r>
            <a:br>
              <a:rPr lang="ja"/>
            </a:br>
            <a:r>
              <a:rPr lang="ja"/>
              <a:t>(Canvas RenderModeがWorld Spaceだから？)</a:t>
            </a:r>
            <a:endParaRPr/>
          </a:p>
          <a:p>
            <a:pPr indent="-342900" lvl="0" marL="457200" rtl="0" algn="l">
              <a:spcBef>
                <a:spcPts val="0"/>
              </a:spcBef>
              <a:spcAft>
                <a:spcPts val="0"/>
              </a:spcAft>
              <a:buSzPts val="1800"/>
              <a:buChar char="●"/>
            </a:pPr>
            <a:r>
              <a:rPr lang="ja"/>
              <a:t>コルーチンで割り込み＆</a:t>
            </a:r>
            <a:br>
              <a:rPr lang="ja"/>
            </a:br>
            <a:r>
              <a:rPr lang="ja"/>
              <a:t>Vector3.Lerp()でなめらかに動かす</a:t>
            </a:r>
            <a:endParaRPr/>
          </a:p>
          <a:p>
            <a:pPr indent="-342900" lvl="0" marL="457200" rtl="0" algn="l">
              <a:spcBef>
                <a:spcPts val="0"/>
              </a:spcBef>
              <a:spcAft>
                <a:spcPts val="0"/>
              </a:spcAft>
              <a:buSzPts val="1800"/>
              <a:buChar char="●"/>
            </a:pPr>
            <a:r>
              <a:rPr lang="ja"/>
              <a:t>C#に慣れる</a:t>
            </a:r>
            <a:endParaRPr/>
          </a:p>
        </p:txBody>
      </p:sp>
      <p:pic>
        <p:nvPicPr>
          <p:cNvPr id="77" name="Google Shape;77;p15"/>
          <p:cNvPicPr preferRelativeResize="0"/>
          <p:nvPr/>
        </p:nvPicPr>
        <p:blipFill>
          <a:blip r:embed="rId3">
            <a:alphaModFix/>
          </a:blip>
          <a:stretch>
            <a:fillRect/>
          </a:stretch>
        </p:blipFill>
        <p:spPr>
          <a:xfrm>
            <a:off x="4445500" y="622450"/>
            <a:ext cx="2028300" cy="2065850"/>
          </a:xfrm>
          <a:prstGeom prst="rect">
            <a:avLst/>
          </a:prstGeom>
          <a:noFill/>
          <a:ln>
            <a:noFill/>
          </a:ln>
        </p:spPr>
      </p:pic>
      <p:pic>
        <p:nvPicPr>
          <p:cNvPr id="78" name="Google Shape;78;p15"/>
          <p:cNvPicPr preferRelativeResize="0"/>
          <p:nvPr/>
        </p:nvPicPr>
        <p:blipFill>
          <a:blip r:embed="rId4">
            <a:alphaModFix/>
          </a:blip>
          <a:stretch>
            <a:fillRect/>
          </a:stretch>
        </p:blipFill>
        <p:spPr>
          <a:xfrm>
            <a:off x="6259100" y="1759127"/>
            <a:ext cx="2573201" cy="28201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163025"/>
            <a:ext cx="8520600" cy="504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ja" sz="2189"/>
              <a:t>中間発表時のコード概要</a:t>
            </a:r>
            <a:endParaRPr sz="2189"/>
          </a:p>
        </p:txBody>
      </p:sp>
      <p:sp>
        <p:nvSpPr>
          <p:cNvPr id="84" name="Google Shape;84;p16"/>
          <p:cNvSpPr txBox="1"/>
          <p:nvPr>
            <p:ph idx="1" type="body"/>
          </p:nvPr>
        </p:nvSpPr>
        <p:spPr>
          <a:xfrm>
            <a:off x="228200" y="607625"/>
            <a:ext cx="4343700" cy="4285500"/>
          </a:xfrm>
          <a:prstGeom prst="rect">
            <a:avLst/>
          </a:prstGeom>
        </p:spPr>
        <p:txBody>
          <a:bodyPr anchorCtr="0" anchor="t" bIns="91425" lIns="91425" spcFirstLastPara="1" rIns="91425" wrap="square" tIns="91425">
            <a:normAutofit fontScale="92500" lnSpcReduction="20000"/>
          </a:bodyPr>
          <a:lstStyle/>
          <a:p>
            <a:pPr indent="0" lvl="0" marL="0" rtl="0" algn="l">
              <a:lnSpc>
                <a:spcPct val="150000"/>
              </a:lnSpc>
              <a:spcBef>
                <a:spcPts val="0"/>
              </a:spcBef>
              <a:spcAft>
                <a:spcPts val="0"/>
              </a:spcAft>
              <a:buNone/>
            </a:pPr>
            <a:r>
              <a:rPr lang="ja" sz="1700">
                <a:latin typeface="Arial"/>
                <a:ea typeface="Arial"/>
                <a:cs typeface="Arial"/>
                <a:sym typeface="Arial"/>
              </a:rPr>
              <a:t>public class CubeSelector : MonoBehavior{</a:t>
            </a:r>
            <a:endParaRPr sz="1700">
              <a:latin typeface="Arial"/>
              <a:ea typeface="Arial"/>
              <a:cs typeface="Arial"/>
              <a:sym typeface="Arial"/>
            </a:endParaRPr>
          </a:p>
          <a:p>
            <a:pPr indent="0" lvl="0" marL="0" rtl="0" algn="l">
              <a:lnSpc>
                <a:spcPct val="150000"/>
              </a:lnSpc>
              <a:spcBef>
                <a:spcPts val="0"/>
              </a:spcBef>
              <a:spcAft>
                <a:spcPts val="0"/>
              </a:spcAft>
              <a:buNone/>
            </a:pPr>
            <a:r>
              <a:rPr lang="ja" sz="1700">
                <a:latin typeface="Arial"/>
                <a:ea typeface="Arial"/>
                <a:cs typeface="Arial"/>
                <a:sym typeface="Arial"/>
              </a:rPr>
              <a:t>  void Start(){</a:t>
            </a:r>
            <a:endParaRPr sz="1700">
              <a:latin typeface="Arial"/>
              <a:ea typeface="Arial"/>
              <a:cs typeface="Arial"/>
              <a:sym typeface="Arial"/>
            </a:endParaRPr>
          </a:p>
          <a:p>
            <a:pPr indent="0" lvl="0" marL="0" rtl="0" algn="l">
              <a:lnSpc>
                <a:spcPct val="150000"/>
              </a:lnSpc>
              <a:spcBef>
                <a:spcPts val="0"/>
              </a:spcBef>
              <a:spcAft>
                <a:spcPts val="0"/>
              </a:spcAft>
              <a:buNone/>
            </a:pPr>
            <a:r>
              <a:rPr lang="ja" sz="1700">
                <a:latin typeface="Arial"/>
                <a:ea typeface="Arial"/>
                <a:cs typeface="Arial"/>
                <a:sym typeface="Arial"/>
              </a:rPr>
              <a:t>    変数設定</a:t>
            </a:r>
            <a:endParaRPr sz="1700">
              <a:latin typeface="Arial"/>
              <a:ea typeface="Arial"/>
              <a:cs typeface="Arial"/>
              <a:sym typeface="Arial"/>
            </a:endParaRPr>
          </a:p>
          <a:p>
            <a:pPr indent="0" lvl="0" marL="0" rtl="0" algn="l">
              <a:lnSpc>
                <a:spcPct val="150000"/>
              </a:lnSpc>
              <a:spcBef>
                <a:spcPts val="0"/>
              </a:spcBef>
              <a:spcAft>
                <a:spcPts val="0"/>
              </a:spcAft>
              <a:buNone/>
            </a:pPr>
            <a:r>
              <a:rPr lang="ja" sz="1700">
                <a:latin typeface="Arial"/>
                <a:ea typeface="Arial"/>
                <a:cs typeface="Arial"/>
                <a:sym typeface="Arial"/>
              </a:rPr>
              <a:t>    }</a:t>
            </a:r>
            <a:endParaRPr sz="1700">
              <a:latin typeface="Arial"/>
              <a:ea typeface="Arial"/>
              <a:cs typeface="Arial"/>
              <a:sym typeface="Arial"/>
            </a:endParaRPr>
          </a:p>
          <a:p>
            <a:pPr indent="0" lvl="0" marL="0" rtl="0" algn="l">
              <a:lnSpc>
                <a:spcPct val="150000"/>
              </a:lnSpc>
              <a:spcBef>
                <a:spcPts val="0"/>
              </a:spcBef>
              <a:spcAft>
                <a:spcPts val="0"/>
              </a:spcAft>
              <a:buNone/>
            </a:pPr>
            <a:r>
              <a:rPr lang="ja" sz="1700">
                <a:latin typeface="Arial"/>
                <a:ea typeface="Arial"/>
                <a:cs typeface="Arial"/>
                <a:sym typeface="Arial"/>
              </a:rPr>
              <a:t>  void Update(){</a:t>
            </a:r>
            <a:endParaRPr sz="1700">
              <a:latin typeface="Arial"/>
              <a:ea typeface="Arial"/>
              <a:cs typeface="Arial"/>
              <a:sym typeface="Arial"/>
            </a:endParaRPr>
          </a:p>
          <a:p>
            <a:pPr indent="0" lvl="0" marL="0" rtl="0" algn="l">
              <a:lnSpc>
                <a:spcPct val="150000"/>
              </a:lnSpc>
              <a:spcBef>
                <a:spcPts val="0"/>
              </a:spcBef>
              <a:spcAft>
                <a:spcPts val="0"/>
              </a:spcAft>
              <a:buNone/>
            </a:pPr>
            <a:r>
              <a:rPr lang="ja" sz="1700">
                <a:latin typeface="Arial"/>
                <a:ea typeface="Arial"/>
                <a:cs typeface="Arial"/>
                <a:sym typeface="Arial"/>
              </a:rPr>
              <a:t>    if(Physics.Raycast(Cube or UIレイヤー){</a:t>
            </a:r>
            <a:endParaRPr sz="1700">
              <a:latin typeface="Arial"/>
              <a:ea typeface="Arial"/>
              <a:cs typeface="Arial"/>
              <a:sym typeface="Arial"/>
            </a:endParaRPr>
          </a:p>
          <a:p>
            <a:pPr indent="0" lvl="0" marL="0" rtl="0" algn="l">
              <a:lnSpc>
                <a:spcPct val="150000"/>
              </a:lnSpc>
              <a:spcBef>
                <a:spcPts val="0"/>
              </a:spcBef>
              <a:spcAft>
                <a:spcPts val="0"/>
              </a:spcAft>
              <a:buNone/>
            </a:pPr>
            <a:r>
              <a:rPr lang="ja" sz="1700">
                <a:latin typeface="Arial"/>
                <a:ea typeface="Arial"/>
                <a:cs typeface="Arial"/>
                <a:sym typeface="Arial"/>
              </a:rPr>
              <a:t>      キューブ前方にUIボタン</a:t>
            </a:r>
            <a:endParaRPr sz="1700">
              <a:latin typeface="Arial"/>
              <a:ea typeface="Arial"/>
              <a:cs typeface="Arial"/>
              <a:sym typeface="Arial"/>
            </a:endParaRPr>
          </a:p>
          <a:p>
            <a:pPr indent="0" lvl="0" marL="0" rtl="0" algn="l">
              <a:lnSpc>
                <a:spcPct val="150000"/>
              </a:lnSpc>
              <a:spcBef>
                <a:spcPts val="0"/>
              </a:spcBef>
              <a:spcAft>
                <a:spcPts val="0"/>
              </a:spcAft>
              <a:buNone/>
            </a:pPr>
            <a:r>
              <a:rPr lang="ja" sz="1700">
                <a:latin typeface="Arial"/>
                <a:ea typeface="Arial"/>
                <a:cs typeface="Arial"/>
                <a:sym typeface="Arial"/>
              </a:rPr>
              <a:t>      }</a:t>
            </a:r>
            <a:endParaRPr sz="1700">
              <a:latin typeface="Arial"/>
              <a:ea typeface="Arial"/>
              <a:cs typeface="Arial"/>
              <a:sym typeface="Arial"/>
            </a:endParaRPr>
          </a:p>
          <a:p>
            <a:pPr indent="0" lvl="0" marL="0" rtl="0" algn="l">
              <a:lnSpc>
                <a:spcPct val="150000"/>
              </a:lnSpc>
              <a:spcBef>
                <a:spcPts val="0"/>
              </a:spcBef>
              <a:spcAft>
                <a:spcPts val="0"/>
              </a:spcAft>
              <a:buNone/>
            </a:pPr>
            <a:r>
              <a:rPr lang="ja" sz="1700">
                <a:latin typeface="Arial"/>
                <a:ea typeface="Arial"/>
                <a:cs typeface="Arial"/>
                <a:sym typeface="Arial"/>
              </a:rPr>
              <a:t>    }</a:t>
            </a:r>
            <a:endParaRPr sz="1700">
              <a:latin typeface="Arial"/>
              <a:ea typeface="Arial"/>
              <a:cs typeface="Arial"/>
              <a:sym typeface="Arial"/>
            </a:endParaRPr>
          </a:p>
          <a:p>
            <a:pPr indent="0" lvl="0" marL="0" rtl="0" algn="l">
              <a:lnSpc>
                <a:spcPct val="150000"/>
              </a:lnSpc>
              <a:spcBef>
                <a:spcPts val="0"/>
              </a:spcBef>
              <a:spcAft>
                <a:spcPts val="0"/>
              </a:spcAft>
              <a:buNone/>
            </a:pPr>
            <a:r>
              <a:t/>
            </a:r>
            <a:endParaRPr sz="1700">
              <a:latin typeface="Arial"/>
              <a:ea typeface="Arial"/>
              <a:cs typeface="Arial"/>
              <a:sym typeface="Arial"/>
            </a:endParaRPr>
          </a:p>
          <a:p>
            <a:pPr indent="0" lvl="0" marL="0" rtl="0" algn="l">
              <a:lnSpc>
                <a:spcPct val="150000"/>
              </a:lnSpc>
              <a:spcBef>
                <a:spcPts val="0"/>
              </a:spcBef>
              <a:spcAft>
                <a:spcPts val="0"/>
              </a:spcAft>
              <a:buNone/>
            </a:pPr>
            <a:r>
              <a:rPr lang="ja" sz="1700">
                <a:latin typeface="Arial"/>
                <a:ea typeface="Arial"/>
                <a:cs typeface="Arial"/>
                <a:sym typeface="Arial"/>
              </a:rPr>
              <a:t>  private void Movecube(){</a:t>
            </a:r>
            <a:endParaRPr sz="1700">
              <a:latin typeface="Arial"/>
              <a:ea typeface="Arial"/>
              <a:cs typeface="Arial"/>
              <a:sym typeface="Arial"/>
            </a:endParaRPr>
          </a:p>
          <a:p>
            <a:pPr indent="0" lvl="0" marL="0" rtl="0" algn="l">
              <a:lnSpc>
                <a:spcPct val="150000"/>
              </a:lnSpc>
              <a:spcBef>
                <a:spcPts val="0"/>
              </a:spcBef>
              <a:spcAft>
                <a:spcPts val="0"/>
              </a:spcAft>
              <a:buNone/>
            </a:pPr>
            <a:r>
              <a:rPr lang="ja" sz="1700">
                <a:latin typeface="Arial"/>
                <a:ea typeface="Arial"/>
                <a:cs typeface="Arial"/>
                <a:sym typeface="Arial"/>
              </a:rPr>
              <a:t>    StartCoroutine(SmoothMove)</a:t>
            </a:r>
            <a:endParaRPr sz="1700">
              <a:latin typeface="Arial"/>
              <a:ea typeface="Arial"/>
              <a:cs typeface="Arial"/>
              <a:sym typeface="Arial"/>
            </a:endParaRPr>
          </a:p>
          <a:p>
            <a:pPr indent="0" lvl="0" marL="0" rtl="0" algn="l">
              <a:lnSpc>
                <a:spcPct val="150000"/>
              </a:lnSpc>
              <a:spcBef>
                <a:spcPts val="0"/>
              </a:spcBef>
              <a:spcAft>
                <a:spcPts val="0"/>
              </a:spcAft>
              <a:buNone/>
            </a:pPr>
            <a:r>
              <a:rPr lang="ja" sz="1700">
                <a:latin typeface="Arial"/>
                <a:ea typeface="Arial"/>
                <a:cs typeface="Arial"/>
                <a:sym typeface="Arial"/>
              </a:rPr>
              <a:t>    }</a:t>
            </a:r>
            <a:endParaRPr sz="1700">
              <a:latin typeface="Arial"/>
              <a:ea typeface="Arial"/>
              <a:cs typeface="Arial"/>
              <a:sym typeface="Arial"/>
            </a:endParaRPr>
          </a:p>
        </p:txBody>
      </p:sp>
      <p:cxnSp>
        <p:nvCxnSpPr>
          <p:cNvPr id="85" name="Google Shape;85;p16"/>
          <p:cNvCxnSpPr/>
          <p:nvPr/>
        </p:nvCxnSpPr>
        <p:spPr>
          <a:xfrm>
            <a:off x="4594400" y="156875"/>
            <a:ext cx="78600" cy="4762500"/>
          </a:xfrm>
          <a:prstGeom prst="straightConnector1">
            <a:avLst/>
          </a:prstGeom>
          <a:noFill/>
          <a:ln cap="flat" cmpd="sng" w="9525">
            <a:solidFill>
              <a:schemeClr val="dk2"/>
            </a:solidFill>
            <a:prstDash val="solid"/>
            <a:round/>
            <a:headEnd len="med" w="med" type="none"/>
            <a:tailEnd len="med" w="med" type="none"/>
          </a:ln>
        </p:spPr>
      </p:cxnSp>
      <p:sp>
        <p:nvSpPr>
          <p:cNvPr id="86" name="Google Shape;86;p16"/>
          <p:cNvSpPr txBox="1"/>
          <p:nvPr/>
        </p:nvSpPr>
        <p:spPr>
          <a:xfrm>
            <a:off x="4672850" y="607775"/>
            <a:ext cx="4404000" cy="39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700">
                <a:solidFill>
                  <a:schemeClr val="dk1"/>
                </a:solidFill>
                <a:latin typeface="Open Sans"/>
                <a:ea typeface="Open Sans"/>
                <a:cs typeface="Open Sans"/>
                <a:sym typeface="Open Sans"/>
              </a:rPr>
              <a:t>  private IEnumerator SmoothMove(){</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while(){</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Vector3.Lerp(始点, 終点, 進行率)</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yield return null;</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private void Showbuttons(){</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指定位置にボタン表示＆有効化</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private void HideButtons(){</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ボタン非表示＆無効化</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a:t>
            </a:r>
            <a:endParaRPr sz="1700">
              <a:solidFill>
                <a:schemeClr val="dk1"/>
              </a:solidFill>
              <a:latin typeface="Open Sans"/>
              <a:ea typeface="Open Sans"/>
              <a:cs typeface="Open Sans"/>
              <a:sym typeface="Open Sans"/>
            </a:endParaRPr>
          </a:p>
          <a:p>
            <a:pPr indent="0" lvl="0" marL="0" rtl="0" algn="l">
              <a:spcBef>
                <a:spcPts val="0"/>
              </a:spcBef>
              <a:spcAft>
                <a:spcPts val="0"/>
              </a:spcAft>
              <a:buNone/>
            </a:pPr>
            <a:r>
              <a:rPr lang="ja" sz="1700">
                <a:solidFill>
                  <a:schemeClr val="dk1"/>
                </a:solidFill>
                <a:latin typeface="Open Sans"/>
                <a:ea typeface="Open Sans"/>
                <a:cs typeface="Open Sans"/>
                <a:sym typeface="Open Sans"/>
              </a:rPr>
              <a:t>}  </a:t>
            </a:r>
            <a:endParaRPr sz="1700">
              <a:solidFill>
                <a:schemeClr val="dk1"/>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103750"/>
            <a:ext cx="8520600" cy="651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ja"/>
              <a:t>中間報告での進捗</a:t>
            </a:r>
            <a:endParaRPr/>
          </a:p>
        </p:txBody>
      </p:sp>
      <p:sp>
        <p:nvSpPr>
          <p:cNvPr id="92" name="Google Shape;92;p17"/>
          <p:cNvSpPr txBox="1"/>
          <p:nvPr>
            <p:ph idx="1" type="body"/>
          </p:nvPr>
        </p:nvSpPr>
        <p:spPr>
          <a:xfrm>
            <a:off x="311700" y="666900"/>
            <a:ext cx="8520600" cy="4268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ja" sz="1700"/>
              <a:t>✅</a:t>
            </a:r>
            <a:r>
              <a:rPr lang="ja" sz="1700"/>
              <a:t>各キューブ＆ボックス作成（要追加）</a:t>
            </a:r>
            <a:endParaRPr sz="1700"/>
          </a:p>
          <a:p>
            <a:pPr indent="0" lvl="0" marL="0" rtl="0" algn="l">
              <a:lnSpc>
                <a:spcPct val="50000"/>
              </a:lnSpc>
              <a:spcBef>
                <a:spcPts val="1200"/>
              </a:spcBef>
              <a:spcAft>
                <a:spcPts val="0"/>
              </a:spcAft>
              <a:buNone/>
            </a:pPr>
            <a:r>
              <a:rPr lang="ja" sz="1700"/>
              <a:t>✅ボタンUIの表示、最低限なめらかな動き</a:t>
            </a:r>
            <a:endParaRPr sz="1700"/>
          </a:p>
          <a:p>
            <a:pPr indent="0" lvl="0" marL="0" rtl="0" algn="l">
              <a:lnSpc>
                <a:spcPct val="50000"/>
              </a:lnSpc>
              <a:spcBef>
                <a:spcPts val="1200"/>
              </a:spcBef>
              <a:spcAft>
                <a:spcPts val="0"/>
              </a:spcAft>
              <a:buNone/>
            </a:pPr>
            <a:r>
              <a:rPr lang="ja" sz="1700"/>
              <a:t>✅レイヤーを分け、誤クリック＆クリック阻害防止</a:t>
            </a:r>
            <a:endParaRPr sz="1700"/>
          </a:p>
          <a:p>
            <a:pPr indent="0" lvl="0" marL="0" rtl="0" algn="l">
              <a:lnSpc>
                <a:spcPct val="50000"/>
              </a:lnSpc>
              <a:spcBef>
                <a:spcPts val="1200"/>
              </a:spcBef>
              <a:spcAft>
                <a:spcPts val="0"/>
              </a:spcAft>
              <a:buNone/>
            </a:pPr>
            <a:r>
              <a:rPr lang="ja" sz="1700"/>
              <a:t>✅C#に慣れる</a:t>
            </a:r>
            <a:endParaRPr sz="1700"/>
          </a:p>
          <a:p>
            <a:pPr indent="0" lvl="0" marL="0" rtl="0" algn="l">
              <a:lnSpc>
                <a:spcPct val="50000"/>
              </a:lnSpc>
              <a:spcBef>
                <a:spcPts val="1200"/>
              </a:spcBef>
              <a:spcAft>
                <a:spcPts val="0"/>
              </a:spcAft>
              <a:buNone/>
            </a:pPr>
            <a:r>
              <a:t/>
            </a:r>
            <a:endParaRPr sz="1700"/>
          </a:p>
          <a:p>
            <a:pPr indent="0" lvl="0" marL="0" rtl="0" algn="l">
              <a:lnSpc>
                <a:spcPct val="50000"/>
              </a:lnSpc>
              <a:spcBef>
                <a:spcPts val="1200"/>
              </a:spcBef>
              <a:spcAft>
                <a:spcPts val="0"/>
              </a:spcAft>
              <a:buNone/>
            </a:pPr>
            <a:r>
              <a:t/>
            </a:r>
            <a:endParaRPr sz="1700"/>
          </a:p>
          <a:p>
            <a:pPr indent="0" lvl="0" marL="0" rtl="0" algn="l">
              <a:lnSpc>
                <a:spcPct val="50000"/>
              </a:lnSpc>
              <a:spcBef>
                <a:spcPts val="1200"/>
              </a:spcBef>
              <a:spcAft>
                <a:spcPts val="0"/>
              </a:spcAft>
              <a:buNone/>
            </a:pPr>
            <a:r>
              <a:rPr lang="ja" sz="1700"/>
              <a:t>❌パズル全体の見渡し方（固定or回転）</a:t>
            </a:r>
            <a:endParaRPr sz="1700"/>
          </a:p>
          <a:p>
            <a:pPr indent="0" lvl="0" marL="0" rtl="0" algn="l">
              <a:lnSpc>
                <a:spcPct val="50000"/>
              </a:lnSpc>
              <a:spcBef>
                <a:spcPts val="1200"/>
              </a:spcBef>
              <a:spcAft>
                <a:spcPts val="0"/>
              </a:spcAft>
              <a:buNone/>
            </a:pPr>
            <a:r>
              <a:rPr lang="ja" sz="1700"/>
              <a:t>❌ボタンUIの表示と実際の位置判定のズレ</a:t>
            </a:r>
            <a:endParaRPr sz="1700"/>
          </a:p>
          <a:p>
            <a:pPr indent="0" lvl="0" marL="0" rtl="0" algn="l">
              <a:lnSpc>
                <a:spcPct val="50000"/>
              </a:lnSpc>
              <a:spcBef>
                <a:spcPts val="1200"/>
              </a:spcBef>
              <a:spcAft>
                <a:spcPts val="0"/>
              </a:spcAft>
              <a:buNone/>
            </a:pPr>
            <a:r>
              <a:rPr lang="ja" sz="1700"/>
              <a:t>❌キューブのアウトライン輪郭追加（Assetインポートしたいがうまくいかない）</a:t>
            </a:r>
            <a:endParaRPr sz="1700"/>
          </a:p>
          <a:p>
            <a:pPr indent="0" lvl="0" marL="0" rtl="0" algn="l">
              <a:lnSpc>
                <a:spcPct val="50000"/>
              </a:lnSpc>
              <a:spcBef>
                <a:spcPts val="1200"/>
              </a:spcBef>
              <a:spcAft>
                <a:spcPts val="0"/>
              </a:spcAft>
              <a:buNone/>
            </a:pPr>
            <a:r>
              <a:rPr lang="ja" sz="1700"/>
              <a:t>❌当たり判定（現在ColliderOnでも貫通）</a:t>
            </a:r>
            <a:endParaRPr sz="1700"/>
          </a:p>
          <a:p>
            <a:pPr indent="0" lvl="0" marL="0" rtl="0" algn="l">
              <a:lnSpc>
                <a:spcPct val="50000"/>
              </a:lnSpc>
              <a:spcBef>
                <a:spcPts val="1200"/>
              </a:spcBef>
              <a:spcAft>
                <a:spcPts val="0"/>
              </a:spcAft>
              <a:buNone/>
            </a:pPr>
            <a:r>
              <a:rPr lang="ja" sz="1700"/>
              <a:t>❌キューブごとに動ける方向制限</a:t>
            </a:r>
            <a:endParaRPr sz="1700"/>
          </a:p>
          <a:p>
            <a:pPr indent="0" lvl="0" marL="0" rtl="0" algn="l">
              <a:lnSpc>
                <a:spcPct val="50000"/>
              </a:lnSpc>
              <a:spcBef>
                <a:spcPts val="1200"/>
              </a:spcBef>
              <a:spcAft>
                <a:spcPts val="0"/>
              </a:spcAft>
              <a:buNone/>
            </a:pPr>
            <a:r>
              <a:rPr lang="ja" sz="1700"/>
              <a:t>❌注視で透ける</a:t>
            </a:r>
            <a:endParaRPr sz="1700"/>
          </a:p>
          <a:p>
            <a:pPr indent="0" lvl="0" marL="0" rtl="0" algn="l">
              <a:lnSpc>
                <a:spcPct val="50000"/>
              </a:lnSpc>
              <a:spcBef>
                <a:spcPts val="1200"/>
              </a:spcBef>
              <a:spcAft>
                <a:spcPts val="0"/>
              </a:spcAft>
              <a:buNone/>
            </a:pPr>
            <a:r>
              <a:rPr lang="ja" sz="1700"/>
              <a:t>❌(衝突音、エフェクト、視界端の色雰囲気、別の形のパズルetc‥)</a:t>
            </a:r>
            <a:endParaRPr sz="1700"/>
          </a:p>
          <a:p>
            <a:pPr indent="0" lvl="0" marL="0" rtl="0" algn="l">
              <a:lnSpc>
                <a:spcPct val="50000"/>
              </a:lnSpc>
              <a:spcBef>
                <a:spcPts val="1200"/>
              </a:spcBef>
              <a:spcAft>
                <a:spcPts val="0"/>
              </a:spcAft>
              <a:buNone/>
            </a:pPr>
            <a:r>
              <a:t/>
            </a:r>
            <a:endParaRPr sz="1700"/>
          </a:p>
          <a:p>
            <a:pPr indent="0" lvl="0" marL="0" rtl="0" algn="l">
              <a:lnSpc>
                <a:spcPct val="50000"/>
              </a:lnSpc>
              <a:spcBef>
                <a:spcPts val="1200"/>
              </a:spcBef>
              <a:spcAft>
                <a:spcPts val="0"/>
              </a:spcAft>
              <a:buNone/>
            </a:pPr>
            <a:r>
              <a:rPr lang="ja" sz="1700"/>
              <a:t>？simulatorではクリック反応しない</a:t>
            </a:r>
            <a:endParaRPr sz="1700"/>
          </a:p>
          <a:p>
            <a:pPr indent="0" lvl="0" marL="0" rtl="0" algn="l">
              <a:lnSpc>
                <a:spcPct val="50000"/>
              </a:lnSpc>
              <a:spcBef>
                <a:spcPts val="1200"/>
              </a:spcBef>
              <a:spcAft>
                <a:spcPts val="0"/>
              </a:spcAft>
              <a:buNone/>
            </a:pPr>
            <a:r>
              <a:rPr lang="ja" sz="1700"/>
              <a:t>？つまむ＆注視は勝手にクリックとしてコードで処理されるか</a:t>
            </a:r>
            <a:endParaRPr sz="1700"/>
          </a:p>
          <a:p>
            <a:pPr indent="0" lvl="0" marL="0" rtl="0" algn="l">
              <a:lnSpc>
                <a:spcPct val="50000"/>
              </a:lnSpc>
              <a:spcBef>
                <a:spcPts val="1200"/>
              </a:spcBef>
              <a:spcAft>
                <a:spcPts val="1200"/>
              </a:spcAft>
              <a:buNone/>
            </a:pPr>
            <a:r>
              <a:rPr lang="ja" sz="1700"/>
              <a:t>　その他VisionProで動作するか</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103750"/>
            <a:ext cx="8520600" cy="651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ja"/>
              <a:t>現在の</a:t>
            </a:r>
            <a:r>
              <a:rPr lang="ja"/>
              <a:t>進捗</a:t>
            </a:r>
            <a:endParaRPr/>
          </a:p>
        </p:txBody>
      </p:sp>
      <p:sp>
        <p:nvSpPr>
          <p:cNvPr id="98" name="Google Shape;98;p18"/>
          <p:cNvSpPr txBox="1"/>
          <p:nvPr>
            <p:ph idx="1" type="body"/>
          </p:nvPr>
        </p:nvSpPr>
        <p:spPr>
          <a:xfrm>
            <a:off x="311700" y="666900"/>
            <a:ext cx="8520600" cy="4268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ja" sz="1700"/>
              <a:t>✅各キューブ＆ボックス作成（要追加）</a:t>
            </a:r>
            <a:endParaRPr sz="1700"/>
          </a:p>
          <a:p>
            <a:pPr indent="0" lvl="0" marL="0" rtl="0" algn="l">
              <a:lnSpc>
                <a:spcPct val="50000"/>
              </a:lnSpc>
              <a:spcBef>
                <a:spcPts val="1200"/>
              </a:spcBef>
              <a:spcAft>
                <a:spcPts val="0"/>
              </a:spcAft>
              <a:buNone/>
            </a:pPr>
            <a:r>
              <a:rPr lang="ja" sz="1700"/>
              <a:t>✅ボタンUIの表示、最低限なめらかな動き</a:t>
            </a:r>
            <a:endParaRPr sz="1700"/>
          </a:p>
          <a:p>
            <a:pPr indent="0" lvl="0" marL="0" rtl="0" algn="l">
              <a:lnSpc>
                <a:spcPct val="50000"/>
              </a:lnSpc>
              <a:spcBef>
                <a:spcPts val="1200"/>
              </a:spcBef>
              <a:spcAft>
                <a:spcPts val="0"/>
              </a:spcAft>
              <a:buNone/>
            </a:pPr>
            <a:r>
              <a:rPr lang="ja" sz="1700"/>
              <a:t>✅レイヤーを分け、誤クリック＆クリック阻害防止</a:t>
            </a:r>
            <a:endParaRPr sz="1700"/>
          </a:p>
          <a:p>
            <a:pPr indent="0" lvl="0" marL="0" rtl="0" algn="l">
              <a:lnSpc>
                <a:spcPct val="50000"/>
              </a:lnSpc>
              <a:spcBef>
                <a:spcPts val="1200"/>
              </a:spcBef>
              <a:spcAft>
                <a:spcPts val="0"/>
              </a:spcAft>
              <a:buNone/>
            </a:pPr>
            <a:r>
              <a:rPr lang="ja" sz="1700"/>
              <a:t>✅C#に慣れる</a:t>
            </a:r>
            <a:endParaRPr sz="1700"/>
          </a:p>
          <a:p>
            <a:pPr indent="0" lvl="0" marL="0" rtl="0" algn="l">
              <a:lnSpc>
                <a:spcPct val="50000"/>
              </a:lnSpc>
              <a:spcBef>
                <a:spcPts val="1200"/>
              </a:spcBef>
              <a:spcAft>
                <a:spcPts val="0"/>
              </a:spcAft>
              <a:buNone/>
            </a:pPr>
            <a:r>
              <a:t/>
            </a:r>
            <a:endParaRPr sz="1700"/>
          </a:p>
          <a:p>
            <a:pPr indent="0" lvl="0" marL="0" rtl="0" algn="l">
              <a:lnSpc>
                <a:spcPct val="50000"/>
              </a:lnSpc>
              <a:spcBef>
                <a:spcPts val="1200"/>
              </a:spcBef>
              <a:spcAft>
                <a:spcPts val="0"/>
              </a:spcAft>
              <a:buNone/>
            </a:pPr>
            <a:r>
              <a:t/>
            </a:r>
            <a:endParaRPr sz="1700"/>
          </a:p>
          <a:p>
            <a:pPr indent="0" lvl="0" marL="0" rtl="0" algn="l">
              <a:lnSpc>
                <a:spcPct val="50000"/>
              </a:lnSpc>
              <a:spcBef>
                <a:spcPts val="1200"/>
              </a:spcBef>
              <a:spcAft>
                <a:spcPts val="0"/>
              </a:spcAft>
              <a:buNone/>
            </a:pPr>
            <a:r>
              <a:rPr lang="ja" sz="1700"/>
              <a:t>✅</a:t>
            </a:r>
            <a:r>
              <a:rPr lang="ja" sz="1700"/>
              <a:t>パズル全体の見渡し方（固定）</a:t>
            </a:r>
            <a:endParaRPr sz="1700"/>
          </a:p>
          <a:p>
            <a:pPr indent="0" lvl="0" marL="0" rtl="0" algn="l">
              <a:lnSpc>
                <a:spcPct val="50000"/>
              </a:lnSpc>
              <a:spcBef>
                <a:spcPts val="1200"/>
              </a:spcBef>
              <a:spcAft>
                <a:spcPts val="0"/>
              </a:spcAft>
              <a:buNone/>
            </a:pPr>
            <a:r>
              <a:rPr lang="ja" sz="1700"/>
              <a:t>✅</a:t>
            </a:r>
            <a:r>
              <a:rPr lang="ja" sz="1700"/>
              <a:t>ボタンUIの表示と実際の位置判定のズレ</a:t>
            </a:r>
            <a:r>
              <a:rPr lang="ja" sz="1700"/>
              <a:t>→UIがデフォルトだと「分厚すぎる」</a:t>
            </a:r>
            <a:endParaRPr sz="1700"/>
          </a:p>
          <a:p>
            <a:pPr indent="0" lvl="0" marL="0" rtl="0" algn="l">
              <a:lnSpc>
                <a:spcPct val="50000"/>
              </a:lnSpc>
              <a:spcBef>
                <a:spcPts val="1200"/>
              </a:spcBef>
              <a:spcAft>
                <a:spcPts val="0"/>
              </a:spcAft>
              <a:buNone/>
            </a:pPr>
            <a:r>
              <a:rPr lang="ja" sz="1700"/>
              <a:t>❌キューブのアウトライン輪郭追加（Asset</a:t>
            </a:r>
            <a:r>
              <a:rPr lang="ja" sz="1700"/>
              <a:t>はムリ、Shaderまで手が回らなかった</a:t>
            </a:r>
            <a:r>
              <a:rPr lang="ja" sz="1700"/>
              <a:t>）</a:t>
            </a:r>
            <a:endParaRPr sz="1700"/>
          </a:p>
          <a:p>
            <a:pPr indent="0" lvl="0" marL="0" rtl="0" algn="l">
              <a:lnSpc>
                <a:spcPct val="50000"/>
              </a:lnSpc>
              <a:spcBef>
                <a:spcPts val="1200"/>
              </a:spcBef>
              <a:spcAft>
                <a:spcPts val="0"/>
              </a:spcAft>
              <a:buNone/>
            </a:pPr>
            <a:r>
              <a:rPr lang="ja" sz="1700"/>
              <a:t>✅</a:t>
            </a:r>
            <a:r>
              <a:rPr lang="ja" sz="1700"/>
              <a:t>当たり判定（Collider</a:t>
            </a:r>
            <a:r>
              <a:rPr lang="ja" sz="1700"/>
              <a:t>が他に重なったら元の位置に戻す＆効果音</a:t>
            </a:r>
            <a:r>
              <a:rPr lang="ja" sz="1700"/>
              <a:t>）</a:t>
            </a:r>
            <a:endParaRPr sz="1700"/>
          </a:p>
          <a:p>
            <a:pPr indent="0" lvl="0" marL="0" rtl="0" algn="l">
              <a:lnSpc>
                <a:spcPct val="50000"/>
              </a:lnSpc>
              <a:spcBef>
                <a:spcPts val="1200"/>
              </a:spcBef>
              <a:spcAft>
                <a:spcPts val="0"/>
              </a:spcAft>
              <a:buNone/>
            </a:pPr>
            <a:r>
              <a:rPr lang="ja" sz="1700"/>
              <a:t>✅</a:t>
            </a:r>
            <a:r>
              <a:rPr lang="ja" sz="1700"/>
              <a:t>キューブごとに動ける方向制限（</a:t>
            </a:r>
            <a:r>
              <a:rPr lang="ja" sz="1700"/>
              <a:t>オブジェクトの</a:t>
            </a:r>
            <a:r>
              <a:rPr lang="ja" sz="1700"/>
              <a:t>Tag</a:t>
            </a:r>
            <a:r>
              <a:rPr lang="ja" sz="1700"/>
              <a:t>で条件分岐）</a:t>
            </a:r>
            <a:endParaRPr sz="1700"/>
          </a:p>
          <a:p>
            <a:pPr indent="0" lvl="0" marL="0" rtl="0" algn="l">
              <a:lnSpc>
                <a:spcPct val="50000"/>
              </a:lnSpc>
              <a:spcBef>
                <a:spcPts val="1200"/>
              </a:spcBef>
              <a:spcAft>
                <a:spcPts val="0"/>
              </a:spcAft>
              <a:buNone/>
            </a:pPr>
            <a:r>
              <a:rPr lang="ja" sz="1700"/>
              <a:t>△</a:t>
            </a:r>
            <a:r>
              <a:rPr lang="ja" sz="1700"/>
              <a:t>注視で透ける</a:t>
            </a:r>
            <a:r>
              <a:rPr lang="ja" sz="1700"/>
              <a:t>（選んだオブジェクトが各色に透けるが注視が未実装）</a:t>
            </a:r>
            <a:endParaRPr sz="1700"/>
          </a:p>
          <a:p>
            <a:pPr indent="0" lvl="0" marL="0" rtl="0" algn="l">
              <a:lnSpc>
                <a:spcPct val="50000"/>
              </a:lnSpc>
              <a:spcBef>
                <a:spcPts val="1200"/>
              </a:spcBef>
              <a:spcAft>
                <a:spcPts val="0"/>
              </a:spcAft>
              <a:buNone/>
            </a:pPr>
            <a:r>
              <a:rPr lang="ja" sz="1700"/>
              <a:t>✅</a:t>
            </a:r>
            <a:r>
              <a:rPr lang="ja" sz="1700"/>
              <a:t>衝突音、</a:t>
            </a:r>
            <a:r>
              <a:rPr lang="ja" sz="1700"/>
              <a:t>衝突振動</a:t>
            </a:r>
            <a:endParaRPr sz="1700"/>
          </a:p>
          <a:p>
            <a:pPr indent="0" lvl="0" marL="0" rtl="0" algn="l">
              <a:lnSpc>
                <a:spcPct val="50000"/>
              </a:lnSpc>
              <a:spcBef>
                <a:spcPts val="1200"/>
              </a:spcBef>
              <a:spcAft>
                <a:spcPts val="0"/>
              </a:spcAft>
              <a:buNone/>
            </a:pPr>
            <a:r>
              <a:t/>
            </a:r>
            <a:endParaRPr sz="1700"/>
          </a:p>
          <a:p>
            <a:pPr indent="0" lvl="0" marL="0" rtl="0" algn="l">
              <a:lnSpc>
                <a:spcPct val="50000"/>
              </a:lnSpc>
              <a:spcBef>
                <a:spcPts val="1200"/>
              </a:spcBef>
              <a:spcAft>
                <a:spcPts val="0"/>
              </a:spcAft>
              <a:buNone/>
            </a:pPr>
            <a:r>
              <a:rPr lang="ja" sz="1700"/>
              <a:t>❌❌VisionProのタップ</a:t>
            </a:r>
            <a:r>
              <a:rPr lang="ja" sz="1700"/>
              <a:t>＆注視</a:t>
            </a:r>
            <a:r>
              <a:rPr lang="ja" sz="1700"/>
              <a:t>の処理がUnityで実装できず。。。</a:t>
            </a:r>
            <a:endParaRPr sz="1700"/>
          </a:p>
          <a:p>
            <a:pPr indent="0" lvl="0" marL="0" rtl="0" algn="l">
              <a:lnSpc>
                <a:spcPct val="50000"/>
              </a:lnSpc>
              <a:spcBef>
                <a:spcPts val="1200"/>
              </a:spcBef>
              <a:spcAft>
                <a:spcPts val="1200"/>
              </a:spcAft>
              <a:buNone/>
            </a:pPr>
            <a:r>
              <a:rPr lang="ja" sz="1700"/>
              <a:t>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145525"/>
            <a:ext cx="8520600" cy="567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ja" sz="3700"/>
              <a:t>想定していた挙動</a:t>
            </a:r>
            <a:endParaRPr sz="3700"/>
          </a:p>
        </p:txBody>
      </p:sp>
      <p:sp>
        <p:nvSpPr>
          <p:cNvPr id="104" name="Google Shape;104;p19"/>
          <p:cNvSpPr txBox="1"/>
          <p:nvPr>
            <p:ph idx="1" type="body"/>
          </p:nvPr>
        </p:nvSpPr>
        <p:spPr>
          <a:xfrm>
            <a:off x="6690725" y="777375"/>
            <a:ext cx="2141700" cy="38019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ja"/>
              <a:t>注視(に相当する処理)でオブジェクトが各色に透ける</a:t>
            </a:r>
            <a:endParaRPr/>
          </a:p>
          <a:p>
            <a:pPr indent="0" lvl="0" marL="0" rtl="0" algn="l">
              <a:spcBef>
                <a:spcPts val="1200"/>
              </a:spcBef>
              <a:spcAft>
                <a:spcPts val="0"/>
              </a:spcAft>
              <a:buNone/>
            </a:pPr>
            <a:r>
              <a:rPr lang="ja"/>
              <a:t>動く方向がわかる</a:t>
            </a:r>
            <a:endParaRPr/>
          </a:p>
          <a:p>
            <a:pPr indent="0" lvl="0" marL="0" rtl="0" algn="l">
              <a:spcBef>
                <a:spcPts val="1200"/>
              </a:spcBef>
              <a:spcAft>
                <a:spcPts val="0"/>
              </a:spcAft>
              <a:buNone/>
            </a:pPr>
            <a:r>
              <a:rPr lang="ja"/>
              <a:t>触れるとUI出現</a:t>
            </a:r>
            <a:endParaRPr/>
          </a:p>
          <a:p>
            <a:pPr indent="0" lvl="0" marL="0" rtl="0" algn="l">
              <a:spcBef>
                <a:spcPts val="1200"/>
              </a:spcBef>
              <a:spcAft>
                <a:spcPts val="0"/>
              </a:spcAft>
              <a:buNone/>
            </a:pPr>
            <a:r>
              <a:rPr lang="ja"/>
              <a:t>押して操作</a:t>
            </a:r>
            <a:endParaRPr/>
          </a:p>
          <a:p>
            <a:pPr indent="0" lvl="0" marL="0" rtl="0" algn="l">
              <a:spcBef>
                <a:spcPts val="1200"/>
              </a:spcBef>
              <a:spcAft>
                <a:spcPts val="0"/>
              </a:spcAft>
              <a:buNone/>
            </a:pPr>
            <a:r>
              <a:rPr lang="ja"/>
              <a:t>接触で音＆振動</a:t>
            </a:r>
            <a:endParaRPr/>
          </a:p>
          <a:p>
            <a:pPr indent="0" lvl="0" marL="0" rtl="0" algn="l">
              <a:spcBef>
                <a:spcPts val="1200"/>
              </a:spcBef>
              <a:spcAft>
                <a:spcPts val="1200"/>
              </a:spcAft>
              <a:buNone/>
            </a:pPr>
            <a:r>
              <a:rPr lang="ja"/>
              <a:t>(余裕があれば周囲の色を取り込み、それに応じてオブジェクトの動ける方向決める)</a:t>
            </a:r>
            <a:endParaRPr/>
          </a:p>
        </p:txBody>
      </p:sp>
      <p:pic>
        <p:nvPicPr>
          <p:cNvPr id="105" name="Google Shape;105;p19" title="画面収録 2025-02-06 17.46.36.mov">
            <a:hlinkClick r:id="rId3"/>
          </p:cNvPr>
          <p:cNvPicPr preferRelativeResize="0"/>
          <p:nvPr/>
        </p:nvPicPr>
        <p:blipFill>
          <a:blip r:embed="rId4">
            <a:alphaModFix/>
          </a:blip>
          <a:stretch>
            <a:fillRect/>
          </a:stretch>
        </p:blipFill>
        <p:spPr>
          <a:xfrm>
            <a:off x="311700" y="777375"/>
            <a:ext cx="6379027" cy="39868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0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198775"/>
            <a:ext cx="8520600" cy="495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ja" sz="3700"/>
              <a:t>タップ・凝視が実装できず。。。</a:t>
            </a:r>
            <a:endParaRPr sz="3700"/>
          </a:p>
        </p:txBody>
      </p:sp>
      <p:sp>
        <p:nvSpPr>
          <p:cNvPr id="111" name="Google Shape;111;p20"/>
          <p:cNvSpPr txBox="1"/>
          <p:nvPr>
            <p:ph idx="1" type="body"/>
          </p:nvPr>
        </p:nvSpPr>
        <p:spPr>
          <a:xfrm>
            <a:off x="311700" y="788025"/>
            <a:ext cx="8520600" cy="4089600"/>
          </a:xfrm>
          <a:prstGeom prst="rect">
            <a:avLst/>
          </a:prstGeom>
        </p:spPr>
        <p:txBody>
          <a:bodyPr anchorCtr="0" anchor="t" bIns="91425" lIns="91425" spcFirstLastPara="1" rIns="91425" wrap="square" tIns="91425">
            <a:noAutofit/>
          </a:bodyPr>
          <a:lstStyle/>
          <a:p>
            <a:pPr indent="-333058" lvl="0" marL="457200" rtl="0" algn="l">
              <a:lnSpc>
                <a:spcPct val="30000"/>
              </a:lnSpc>
              <a:spcBef>
                <a:spcPts val="0"/>
              </a:spcBef>
              <a:spcAft>
                <a:spcPts val="0"/>
              </a:spcAft>
              <a:buSzPts val="1645"/>
              <a:buChar char="●"/>
            </a:pPr>
            <a:r>
              <a:rPr lang="ja" sz="1645"/>
              <a:t>VisionProタッチはデフォルトで左クリックと同等の処理</a:t>
            </a:r>
            <a:endParaRPr sz="1645"/>
          </a:p>
          <a:p>
            <a:pPr indent="0" lvl="0" marL="457200" rtl="0" algn="l">
              <a:lnSpc>
                <a:spcPct val="30000"/>
              </a:lnSpc>
              <a:spcBef>
                <a:spcPts val="1200"/>
              </a:spcBef>
              <a:spcAft>
                <a:spcPts val="0"/>
              </a:spcAft>
              <a:buSzPts val="935"/>
              <a:buNone/>
            </a:pPr>
            <a:r>
              <a:rPr lang="ja" sz="1645"/>
              <a:t>→UIボタンはタップで押せる</a:t>
            </a:r>
            <a:endParaRPr sz="1645"/>
          </a:p>
          <a:p>
            <a:pPr indent="-333058" lvl="0" marL="457200" rtl="0" algn="l">
              <a:lnSpc>
                <a:spcPct val="30000"/>
              </a:lnSpc>
              <a:spcBef>
                <a:spcPts val="1200"/>
              </a:spcBef>
              <a:spcAft>
                <a:spcPts val="0"/>
              </a:spcAft>
              <a:buSzPts val="1645"/>
              <a:buChar char="●"/>
            </a:pPr>
            <a:r>
              <a:rPr lang="ja" sz="1645"/>
              <a:t>「VisionPro ハンドトラッキング」等で調べたサイトはどれもSwiftでの説明</a:t>
            </a:r>
            <a:endParaRPr sz="1645"/>
          </a:p>
          <a:p>
            <a:pPr indent="0" lvl="0" marL="0" rtl="0" algn="l">
              <a:lnSpc>
                <a:spcPct val="30000"/>
              </a:lnSpc>
              <a:spcBef>
                <a:spcPts val="1200"/>
              </a:spcBef>
              <a:spcAft>
                <a:spcPts val="0"/>
              </a:spcAft>
              <a:buSzPts val="935"/>
              <a:buNone/>
            </a:pPr>
            <a:r>
              <a:rPr lang="ja" sz="1645"/>
              <a:t>	→実機接続、Unityからのビルドに手こずってしまい、残り２日でSwiftに</a:t>
            </a:r>
            <a:endParaRPr sz="1645"/>
          </a:p>
          <a:p>
            <a:pPr indent="0" lvl="0" marL="457200" rtl="0" algn="l">
              <a:lnSpc>
                <a:spcPct val="30000"/>
              </a:lnSpc>
              <a:spcBef>
                <a:spcPts val="1200"/>
              </a:spcBef>
              <a:spcAft>
                <a:spcPts val="0"/>
              </a:spcAft>
              <a:buSzPts val="935"/>
              <a:buNone/>
            </a:pPr>
            <a:r>
              <a:rPr lang="ja" sz="1645"/>
              <a:t>　シフトしての開発は間に合わず</a:t>
            </a:r>
            <a:endParaRPr sz="1645"/>
          </a:p>
          <a:p>
            <a:pPr indent="-333058" lvl="0" marL="457200" rtl="0" algn="l">
              <a:lnSpc>
                <a:spcPct val="30000"/>
              </a:lnSpc>
              <a:spcBef>
                <a:spcPts val="1200"/>
              </a:spcBef>
              <a:spcAft>
                <a:spcPts val="0"/>
              </a:spcAft>
              <a:buSzPts val="1645"/>
              <a:buChar char="●"/>
            </a:pPr>
            <a:r>
              <a:rPr lang="ja" sz="1645"/>
              <a:t>以前Slackにあったタップ操作の実装方法では上手くいかず</a:t>
            </a:r>
            <a:endParaRPr sz="1645"/>
          </a:p>
          <a:p>
            <a:pPr indent="0" lvl="0" marL="457200" rtl="0" algn="l">
              <a:lnSpc>
                <a:spcPct val="30000"/>
              </a:lnSpc>
              <a:spcBef>
                <a:spcPts val="1200"/>
              </a:spcBef>
              <a:spcAft>
                <a:spcPts val="0"/>
              </a:spcAft>
              <a:buSzPts val="935"/>
              <a:buNone/>
            </a:pPr>
            <a:r>
              <a:rPr lang="ja" sz="1645"/>
              <a:t>（タップしたオブジェクトが選べなかった）</a:t>
            </a:r>
            <a:endParaRPr sz="1645"/>
          </a:p>
          <a:p>
            <a:pPr indent="-333058" lvl="0" marL="457200" rtl="0" algn="l">
              <a:lnSpc>
                <a:spcPct val="30000"/>
              </a:lnSpc>
              <a:spcBef>
                <a:spcPts val="1200"/>
              </a:spcBef>
              <a:spcAft>
                <a:spcPts val="0"/>
              </a:spcAft>
              <a:buSzPts val="1645"/>
              <a:buChar char="●"/>
            </a:pPr>
            <a:r>
              <a:rPr lang="ja" sz="1645"/>
              <a:t>PolySpatialのサンプルシーンから必要なコード等を持ってこようとしたが、</a:t>
            </a:r>
            <a:endParaRPr sz="1645"/>
          </a:p>
          <a:p>
            <a:pPr indent="0" lvl="0" marL="457200" rtl="0" algn="l">
              <a:lnSpc>
                <a:spcPct val="30000"/>
              </a:lnSpc>
              <a:spcBef>
                <a:spcPts val="1200"/>
              </a:spcBef>
              <a:spcAft>
                <a:spcPts val="0"/>
              </a:spcAft>
              <a:buSzPts val="935"/>
              <a:buNone/>
            </a:pPr>
            <a:r>
              <a:rPr lang="ja" sz="1645"/>
              <a:t>複数コードで複雑に関数・変数がまたがってうまくいかず</a:t>
            </a:r>
            <a:endParaRPr sz="1645"/>
          </a:p>
          <a:p>
            <a:pPr indent="-333058" lvl="0" marL="457200" rtl="0" algn="l">
              <a:lnSpc>
                <a:spcPct val="30000"/>
              </a:lnSpc>
              <a:spcBef>
                <a:spcPts val="1200"/>
              </a:spcBef>
              <a:spcAft>
                <a:spcPts val="0"/>
              </a:spcAft>
              <a:buSzPts val="1645"/>
              <a:buChar char="●"/>
            </a:pPr>
            <a:r>
              <a:rPr lang="ja" sz="1645"/>
              <a:t>UnityのXRInteractionToolkitを用いることを検討</a:t>
            </a:r>
            <a:endParaRPr sz="1645"/>
          </a:p>
          <a:p>
            <a:pPr indent="0" lvl="0" marL="457200" rtl="0" algn="l">
              <a:lnSpc>
                <a:spcPct val="30000"/>
              </a:lnSpc>
              <a:spcBef>
                <a:spcPts val="1200"/>
              </a:spcBef>
              <a:spcAft>
                <a:spcPts val="0"/>
              </a:spcAft>
              <a:buSzPts val="935"/>
              <a:buNone/>
            </a:pPr>
            <a:r>
              <a:rPr lang="ja" sz="1645"/>
              <a:t>（VisionPro開発向けのサイトにあったが、本当に使えるかは未知数）</a:t>
            </a:r>
            <a:endParaRPr sz="1645"/>
          </a:p>
          <a:p>
            <a:pPr indent="-333058" lvl="0" marL="457200" rtl="0" algn="l">
              <a:lnSpc>
                <a:spcPct val="50000"/>
              </a:lnSpc>
              <a:spcBef>
                <a:spcPts val="1200"/>
              </a:spcBef>
              <a:spcAft>
                <a:spcPts val="0"/>
              </a:spcAft>
              <a:buSzPts val="1645"/>
              <a:buChar char="●"/>
            </a:pPr>
            <a:r>
              <a:rPr lang="ja" sz="1645"/>
              <a:t>XROrigin/HandTrackingでVisionProでも手に追従するボーンやマーカが表示</a:t>
            </a:r>
            <a:endParaRPr sz="1645"/>
          </a:p>
          <a:p>
            <a:pPr indent="-333058" lvl="0" marL="457200" rtl="0" algn="l">
              <a:lnSpc>
                <a:spcPct val="115000"/>
              </a:lnSpc>
              <a:spcBef>
                <a:spcPts val="0"/>
              </a:spcBef>
              <a:spcAft>
                <a:spcPts val="0"/>
              </a:spcAft>
              <a:buSzPts val="1645"/>
              <a:buChar char="●"/>
            </a:pPr>
            <a:r>
              <a:rPr lang="ja" sz="1645"/>
              <a:t>そ</a:t>
            </a:r>
            <a:r>
              <a:rPr lang="ja" sz="1645"/>
              <a:t>こにコライダーをつけCubeとのOnTriggerEnterでタップを検知</a:t>
            </a:r>
            <a:endParaRPr sz="1645"/>
          </a:p>
          <a:p>
            <a:pPr indent="-333058" lvl="0" marL="457200" rtl="0" algn="l">
              <a:lnSpc>
                <a:spcPct val="115000"/>
              </a:lnSpc>
              <a:spcBef>
                <a:spcPts val="0"/>
              </a:spcBef>
              <a:spcAft>
                <a:spcPts val="0"/>
              </a:spcAft>
              <a:buSzPts val="1645"/>
              <a:buChar char="●"/>
            </a:pPr>
            <a:r>
              <a:rPr lang="ja" sz="1645"/>
              <a:t>エディタでは上手くいったが実機では触れたはずなのにタップしたことにならず</a:t>
            </a:r>
            <a:endParaRPr sz="1645"/>
          </a:p>
          <a:p>
            <a:pPr indent="-333058" lvl="0" marL="457200" rtl="0" algn="l">
              <a:lnSpc>
                <a:spcPct val="115000"/>
              </a:lnSpc>
              <a:spcBef>
                <a:spcPts val="0"/>
              </a:spcBef>
              <a:spcAft>
                <a:spcPts val="0"/>
              </a:spcAft>
              <a:buSzPts val="1645"/>
              <a:buChar char="●"/>
            </a:pPr>
            <a:r>
              <a:rPr lang="ja" sz="1645"/>
              <a:t>タップ実装で時間切れになり、凝視の操作もデフォルトであったコンポーネントVisionOSHoverEffect（見ているオブジェクトをふんわり光らせるエフェクト）を活用した「凝視で透ける」実装まで間に合わず</a:t>
            </a:r>
            <a:endParaRPr sz="1645"/>
          </a:p>
          <a:p>
            <a:pPr indent="0" lvl="0" marL="0" rtl="0" algn="l">
              <a:lnSpc>
                <a:spcPct val="30000"/>
              </a:lnSpc>
              <a:spcBef>
                <a:spcPts val="1200"/>
              </a:spcBef>
              <a:spcAft>
                <a:spcPts val="1200"/>
              </a:spcAft>
              <a:buSzPts val="935"/>
              <a:buNone/>
            </a:pPr>
            <a:r>
              <a:t/>
            </a:r>
            <a:endParaRPr sz="1645"/>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idx="1" type="body"/>
          </p:nvPr>
        </p:nvSpPr>
        <p:spPr>
          <a:xfrm>
            <a:off x="6573575" y="152400"/>
            <a:ext cx="2432100" cy="418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sz="1700"/>
              <a:t>デバッグ用に手のコライダーとCubeのトリガーコライダーが重なるとOnTriggerEnterで音がなってボタンが表示されるように</a:t>
            </a:r>
            <a:endParaRPr sz="1700"/>
          </a:p>
          <a:p>
            <a:pPr indent="0" lvl="0" marL="0" rtl="0" algn="l">
              <a:spcBef>
                <a:spcPts val="1200"/>
              </a:spcBef>
              <a:spcAft>
                <a:spcPts val="0"/>
              </a:spcAft>
              <a:buNone/>
            </a:pPr>
            <a:r>
              <a:rPr lang="ja" sz="1700"/>
              <a:t>エディタでXROriginを動かして手を触れさせると音が鳴るが、実機でCubeに触れても音が鳴らない</a:t>
            </a:r>
            <a:endParaRPr sz="1700"/>
          </a:p>
          <a:p>
            <a:pPr indent="0" lvl="0" marL="0" rtl="0" algn="l">
              <a:spcBef>
                <a:spcPts val="1200"/>
              </a:spcBef>
              <a:spcAft>
                <a:spcPts val="1200"/>
              </a:spcAft>
              <a:buNone/>
            </a:pPr>
            <a:r>
              <a:t/>
            </a:r>
            <a:endParaRPr sz="1700"/>
          </a:p>
        </p:txBody>
      </p:sp>
      <p:pic>
        <p:nvPicPr>
          <p:cNvPr id="117" name="Google Shape;117;p21" title="画面収録 2025-02-11 17.06.43.mov">
            <a:hlinkClick r:id="rId3"/>
          </p:cNvPr>
          <p:cNvPicPr preferRelativeResize="0"/>
          <p:nvPr/>
        </p:nvPicPr>
        <p:blipFill>
          <a:blip r:embed="rId4">
            <a:alphaModFix/>
          </a:blip>
          <a:stretch>
            <a:fillRect/>
          </a:stretch>
        </p:blipFill>
        <p:spPr>
          <a:xfrm>
            <a:off x="152400" y="152400"/>
            <a:ext cx="6344599" cy="396114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1000"/>
                                        <p:tgtEl>
                                          <p:spTgt spid="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244925"/>
            <a:ext cx="8520600" cy="58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ja" sz="3320"/>
              <a:t>原因推定・考察</a:t>
            </a:r>
            <a:endParaRPr sz="3320"/>
          </a:p>
        </p:txBody>
      </p:sp>
      <p:sp>
        <p:nvSpPr>
          <p:cNvPr id="123" name="Google Shape;123;p22"/>
          <p:cNvSpPr txBox="1"/>
          <p:nvPr>
            <p:ph idx="1" type="body"/>
          </p:nvPr>
        </p:nvSpPr>
        <p:spPr>
          <a:xfrm>
            <a:off x="311700" y="915825"/>
            <a:ext cx="8520600" cy="3663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試しにXRInteractionToolkitの指関節にCubeをつけると実機でもきちんと追従してくれる(ように見える)</a:t>
            </a:r>
            <a:endParaRPr/>
          </a:p>
          <a:p>
            <a:pPr indent="-342900" lvl="0" marL="457200" rtl="0" algn="l">
              <a:spcBef>
                <a:spcPts val="0"/>
              </a:spcBef>
              <a:spcAft>
                <a:spcPts val="0"/>
              </a:spcAft>
              <a:buSzPts val="1800"/>
              <a:buChar char="●"/>
            </a:pPr>
            <a:r>
              <a:rPr lang="ja"/>
              <a:t>実機ではキューブに触れてもデバッグ音が鳴らない（触れた判定になっていない）</a:t>
            </a:r>
            <a:endParaRPr/>
          </a:p>
          <a:p>
            <a:pPr indent="0" lvl="0" marL="0" rtl="0" algn="l">
              <a:spcBef>
                <a:spcPts val="1200"/>
              </a:spcBef>
              <a:spcAft>
                <a:spcPts val="0"/>
              </a:spcAft>
              <a:buNone/>
            </a:pPr>
            <a:r>
              <a:rPr lang="ja"/>
              <a:t>①座標がズレている？</a:t>
            </a:r>
            <a:endParaRPr/>
          </a:p>
          <a:p>
            <a:pPr indent="0" lvl="0" marL="0" rtl="0" algn="l">
              <a:spcBef>
                <a:spcPts val="1200"/>
              </a:spcBef>
              <a:spcAft>
                <a:spcPts val="0"/>
              </a:spcAft>
              <a:buNone/>
            </a:pPr>
            <a:r>
              <a:rPr lang="ja"/>
              <a:t>②コードのミス？（エディタでは上手くいったのでこの可能性は低いと考える）</a:t>
            </a:r>
            <a:endParaRPr/>
          </a:p>
          <a:p>
            <a:pPr indent="0" lvl="0" marL="0" rtl="0" algn="l">
              <a:spcBef>
                <a:spcPts val="1200"/>
              </a:spcBef>
              <a:spcAft>
                <a:spcPts val="0"/>
              </a:spcAft>
              <a:buNone/>
            </a:pPr>
            <a:r>
              <a:rPr lang="ja"/>
              <a:t>③そもそもVisionPro実機でXRInteractionToolkitが使えない/不具合が起こる？</a:t>
            </a:r>
            <a:endParaRPr/>
          </a:p>
          <a:p>
            <a:pPr indent="0" lvl="0" marL="0" rtl="0" algn="l">
              <a:spcBef>
                <a:spcPts val="1200"/>
              </a:spcBef>
              <a:spcAft>
                <a:spcPts val="1200"/>
              </a:spcAft>
              <a:buNone/>
            </a:pPr>
            <a:r>
              <a:rPr lang="ja"/>
              <a:t>　→時間をかけてPolySpatialでやる必要</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